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ba7c742-f7d6-0d80-1a34-9607c549e381}">
          <p14:sldIdLst>
            <p14:sldId id="256"/>
            <p14:sldId id="257"/>
          </p14:sldIdLst>
        </p14:section>
        <p14:section name="El modelo" id="{117afec5-7533-d6de-d3b2-cde7fe01d927}">
          <p14:sldIdLst>
            <p14:sldId id="258"/>
            <p14:sldId id="259"/>
            <p14:sldId id="260"/>
            <p14:sldId id="261"/>
          </p14:sldIdLst>
        </p14:section>
        <p14:section name="Ajustes" id="{026825fa-33fe-05bd-cc0c-6bb3012a27b7}">
          <p14:sldIdLst>
            <p14:sldId id="262"/>
            <p14:sldId id="263"/>
            <p14:sldId id="264"/>
            <p14:sldId id="265"/>
          </p14:sldIdLst>
        </p14:section>
        <p14:section name="Cierre" id="{9b83b4dc-14c6-5338-6634-5bc3be295b4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que todos entiendan cómo una misma persona, por ejemplo un contador, trabaja con varios grupos económicos sin tener varios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Contarlo como evolución, no como crítica. El proyecto de CALASIS está en producción y resolvió las credenciales; BELC completa el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idea central. ForgeRock responde quién es la persona; BackOffice responde con qué empresas trabaja y qué puede hacer en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Remarcar que los correos distintos no crean usuarios distintos: el journey identifica a Ana por su cédula.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3 es el que hace posible la afiliación múltiple. El enrollment_id permite reintentar sin duplicar si algo falla a mitad del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dudas sobre las tablas, la página web del ejemplo de Ana tiene todos los datos y se puede pasar el cursor sobre cada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cambio es el que habilita todo: con los UNIQUE anteriores, el contador habría necesitado una segunda identidad, que es justo lo que queremos eliminar.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Ana recibe en ana.morales@pacifico.com.pa las aprobaciones pendientes del Grupo Pacífico, pero su OTP siempre llega al correo de su identidad. ForgeRock no sabe nada de grupos económicos.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6 a 8 del journey de login del documento de arquitectura. La empresa no viaja en el token: se consulta en BackOffice.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responsable y fecha para cada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Afiliación múltiple · BEL Comercial Release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Afiliación múltiple en BEL Comercial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Una persona, varios grupos económicos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Modelo de datos de BackOffice · Release 1 · Ximena Williams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De un usuario por contrato a una identidad</a:t>
            </a:r>
            <a:endParaRPr lang="en-US" sz="3400" dirty="0"/>
          </a:p>
        </p:txBody>
      </p:sp>
      <p:sp>
        <p:nvSpPr>
          <p:cNvPr id="3" name="etapa1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Antes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Azure / Temenos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Modelo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usuario y una clave por contrato o empresa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Problema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 contratos = 7 usuarios, 7 contraseñas y 7 licencias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87368" y="3611880"/>
            <a:ext cx="23774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etapa2"/>
          <p:cNvSpPr/>
          <p:nvPr/>
        </p:nvSpPr>
        <p:spPr>
          <a:xfrm>
            <a:off x="4343400" y="1463040"/>
            <a:ext cx="3520440" cy="42976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CALASIS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ForgeRock en AWS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788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Modelo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063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identidad, con las empresas como perfiles dentro de ForgeRock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Problema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Unificó credenciales, pero puso datos de negocio en el directorio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82128" y="3611880"/>
            <a:ext cx="23774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etapa3"/>
          <p:cNvSpPr/>
          <p:nvPr/>
        </p:nvSpPr>
        <p:spPr>
          <a:xfrm>
            <a:off x="8138160" y="1463040"/>
            <a:ext cx="3520440" cy="4297680"/>
          </a:xfrm>
          <a:prstGeom prst="roundRect">
            <a:avLst>
              <a:gd name="adj" fmla="val 20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BELC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Esta solución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788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Modelo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063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Una identidad por persona; empresas, roles y permisos en BackOffice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Resultado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Cada dato vive en un solo lugar, cerca de quien lo gobierna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Una identidad, varias relaciones</a:t>
            </a:r>
            <a:endParaRPr lang="en-US" sz="3400" dirty="0"/>
          </a:p>
        </p:txBody>
      </p:sp>
      <p:sp>
        <p:nvSpPr>
          <p:cNvPr id="3" name="forgerock"/>
          <p:cNvSpPr/>
          <p:nvPr/>
        </p:nvSpPr>
        <p:spPr>
          <a:xfrm>
            <a:off x="54864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ForgeRock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Quién es la persona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Ana Morales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_id: a1f3c9e2-ana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Cédula: 8-765-4321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Una contraseña, un soft token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77640" y="320040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backoffice"/>
          <p:cNvSpPr/>
          <p:nvPr/>
        </p:nvSpPr>
        <p:spPr>
          <a:xfrm>
            <a:off x="4617720" y="1417320"/>
            <a:ext cx="699516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892040" y="16002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BackOffice · con quién trabaja y qué puede hacer</a:t>
            </a:r>
            <a:endParaRPr lang="en-US" sz="1600" dirty="0"/>
          </a:p>
        </p:txBody>
      </p:sp>
      <p:sp>
        <p:nvSpPr>
          <p:cNvPr id="10" name="relacion1"/>
          <p:cNvSpPr/>
          <p:nvPr/>
        </p:nvSpPr>
        <p:spPr>
          <a:xfrm>
            <a:off x="4892040" y="214884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Grupo Istmo · Distribuidora Istmo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24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Conciliador de cuentas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29800" y="244144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29800" y="24414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Activa</a:t>
            </a:r>
            <a:endParaRPr lang="en-US" sz="1200" dirty="0"/>
          </a:p>
        </p:txBody>
      </p:sp>
      <p:sp>
        <p:nvSpPr>
          <p:cNvPr id="15" name="relacion2"/>
          <p:cNvSpPr/>
          <p:nvPr/>
        </p:nvSpPr>
        <p:spPr>
          <a:xfrm>
            <a:off x="4892040" y="3227832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Grupo Pacífico · Constructora Pacífico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703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Aprobador monetario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29800" y="352044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9800" y="3520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Activa</a:t>
            </a:r>
            <a:endParaRPr lang="en-US" sz="1200" dirty="0"/>
          </a:p>
        </p:txBody>
      </p:sp>
      <p:sp>
        <p:nvSpPr>
          <p:cNvPr id="20" name="relacion3"/>
          <p:cNvSpPr/>
          <p:nvPr/>
        </p:nvSpPr>
        <p:spPr>
          <a:xfrm>
            <a:off x="4892040" y="4306824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4416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Grupo Pacífico · Inmobiliaria Pacífico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782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Invitación enviada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29800" y="459943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9800" y="45994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Pendiente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Las tres relaciones apuntan a la misma identidad. Ana no tiene tres usuarios: tiene uno con tres relaciones.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El caso: Ana, contadora de dos grupos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286000"/>
                <a:gridCol w="301752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Grupo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Empresa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Correo de la invitación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Grupo Istmo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Distribuidora Istmo S.A.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Conciliador de cuentas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ana@contaduriamorales.pa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Completada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Grupo Pacífico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Constructora Pacífico S.A.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Aprobador monetario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ana.morales@pacifico.com.pa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Completada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Grupo Pacífico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Inmobiliaria Pacífico S.A.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Aprobador monetario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ana.morales@pacifico.com.pa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Pendiente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69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37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identidad en ForgeRock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364992" y="4069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3364992" y="4937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correos de invitación distintos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81344" y="4069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181344" y="4937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invitaciones, una por empresa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97696" y="4069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997696" y="4937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relaciones activas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Cómo se afilia a cada empresa</a:t>
            </a:r>
            <a:endParaRPr lang="en-US" sz="3400" dirty="0"/>
          </a:p>
        </p:txBody>
      </p:sp>
      <p:sp>
        <p:nvSpPr>
          <p:cNvPr id="3" name="paso1"/>
          <p:cNvSpPr/>
          <p:nvPr/>
        </p:nvSpPr>
        <p:spPr>
          <a:xfrm>
            <a:off x="548640" y="160020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 admin invita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BackOffice crea la afiliación con enrollment_id y token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265176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paso2"/>
          <p:cNvSpPr/>
          <p:nvPr/>
        </p:nvSpPr>
        <p:spPr>
          <a:xfrm>
            <a:off x="2807208" y="160020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008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008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 abre el enlace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Llega con enrollment_id y token secreto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91456" y="265176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paso3"/>
          <p:cNvSpPr/>
          <p:nvPr/>
        </p:nvSpPr>
        <p:spPr>
          <a:xfrm>
            <a:off x="5065776" y="160020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1783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4865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Busca por cédula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Si existe, se reutiliza; si no, se crea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0024" y="265176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paso4"/>
          <p:cNvSpPr/>
          <p:nvPr/>
        </p:nvSpPr>
        <p:spPr>
          <a:xfrm>
            <a:off x="7324344" y="160020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07224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072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OTP al correo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07224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Confirma que Ana controla ese correo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08592" y="2651760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paso5"/>
          <p:cNvSpPr/>
          <p:nvPr/>
        </p:nvSpPr>
        <p:spPr>
          <a:xfrm>
            <a:off x="9582912" y="160020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5792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65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65792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Vincular persona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65792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BackOffice registra a la persona y crea la relación</a:t>
            </a:r>
            <a:endParaRPr lang="en-US" sz="1200" dirty="0"/>
          </a:p>
        </p:txBody>
      </p:sp>
      <p:sp>
        <p:nvSpPr>
          <p:cNvPr id="32" name="segunda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La segunda y la tercera invitación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el paso 3 el journey ya encuentra a Ana por su cédula. Ella entra con su contraseña de siempre y solo se agrega una relación nueva en BackOffice. Nunca se crea una segunda identidad.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Cómo queda en las tablas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ForgeRock managed/user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 fila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documento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a1f3c9e2-ana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8-765-4321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belc_persona_canal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 fila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3749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234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id_persona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Identity_id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Estado_canal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a1f3c9e2-ana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634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afiliacion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 filas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737360"/>
                <a:gridCol w="173736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enrollment_id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empresa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id_persona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e1c4…01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 Istmo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COMPLETADA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7002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9b7f…02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 Constructora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COMPLETADA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7003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3d2a…03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 Inmobiliaria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PENDIENTE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663440" y="3611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Usuario_grupo_economico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663440" y="3611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 filas</a:t>
            </a:r>
            <a:endParaRPr lang="en-US" sz="12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977640"/>
          <a:ext cx="6949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1371600"/>
                <a:gridCol w="914400"/>
                <a:gridCol w="8229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id_persona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grupo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empresa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afiliación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Istmo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Pacífico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7002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belc_persona_canal traduce el Identity_id de ForgeRock a id_persona, la llave interna de BackOffice. El mismo id_persona se repite a propósito: cada fila es una relación distinta. La invitación 7003 aún no tiene id_persona porque Ana no la ha aceptado.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Lo que ajustamos en el modelo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Cambio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Tabla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Por qué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UNIQUE (id_persona, empresa) en lugar de UNIQUE por separado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Usuario_grupo_economico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Antes una persona solo podía estar en un grupo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UNIQUE (grupo, persona)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Grupo_economico_administrador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Permite la administración Dual y administrar varios grupos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FK compuestas empresa–grupo y rol–grupo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Usuario_grupo_economico, afiliacion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Evita mezclar un rol de un grupo con una empresa de otro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enrollment_id único + Token_hash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afiliacion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Reintentos sin duplicados; el secreto del enlace nunca se guarda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id_persona NULL hasta la vinculación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afiliacion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 persona se conoce recién en el paso 200 del journey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Tabla nueva de correos de negocio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Contacto_notificacion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 correo distinto por relación, verificado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¿A qué correo llegan los avisos?</a:t>
            </a:r>
            <a:endParaRPr lang="en-US" sz="3400" dirty="0"/>
          </a:p>
        </p:txBody>
      </p:sp>
      <p:sp>
        <p:nvSpPr>
          <p:cNvPr id="3" name="aviso1"/>
          <p:cNvSpPr/>
          <p:nvPr/>
        </p:nvSpPr>
        <p:spPr>
          <a:xfrm>
            <a:off x="548640" y="1463040"/>
            <a:ext cx="5349240" cy="3566160"/>
          </a:xfrm>
          <a:prstGeom prst="roundRect">
            <a:avLst>
              <a:gd name="adj" fmla="val 205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Seguridad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OTP, recuperación de contraseña, bloqueo, nuevo dispositivo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Va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Correo de la persona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Vive en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ForgeRock (mail)</a:t>
            </a:r>
            <a:endParaRPr lang="en-US" sz="1500" dirty="0"/>
          </a:p>
        </p:txBody>
      </p:sp>
      <p:sp>
        <p:nvSpPr>
          <p:cNvPr id="10" name="aviso2"/>
          <p:cNvSpPr/>
          <p:nvPr/>
        </p:nvSpPr>
        <p:spPr>
          <a:xfrm>
            <a:off x="6263640" y="1463040"/>
            <a:ext cx="5349240" cy="3566160"/>
          </a:xfrm>
          <a:prstGeom prst="roundRect">
            <a:avLst>
              <a:gd name="adj" fmla="val 2051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691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Negocio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Aprobación pendiente, transferencia ejecutada, rechazo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Va 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Correo de la relación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Vive en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BackOffice (Contacto_notificacion)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Si una relación no tiene correo propio, los avisos de negocio van al correo de la persona en ForgeRock.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Al iniciar sesión, Ana elige la empresa</a:t>
            </a:r>
            <a:endParaRPr lang="en-US" sz="3400" dirty="0"/>
          </a:p>
        </p:txBody>
      </p:sp>
      <p:sp>
        <p:nvSpPr>
          <p:cNvPr id="3" name="selector"/>
          <p:cNvSpPr/>
          <p:nvPr/>
        </p:nvSpPr>
        <p:spPr>
          <a:xfrm>
            <a:off x="548640" y="1463040"/>
            <a:ext cx="512064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Hola, Ana. ¿Con qué empresa vas a operar?</a:t>
            </a:r>
            <a:endParaRPr lang="en-US" sz="1600" dirty="0"/>
          </a:p>
        </p:txBody>
      </p:sp>
      <p:sp>
        <p:nvSpPr>
          <p:cNvPr id="5" name="opcion1"/>
          <p:cNvSpPr/>
          <p:nvPr/>
        </p:nvSpPr>
        <p:spPr>
          <a:xfrm>
            <a:off x="822960" y="2331720"/>
            <a:ext cx="457200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41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Distribuidora Istmo S.A.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Grupo Istmo · Conciliador</a:t>
            </a:r>
            <a:endParaRPr lang="en-US" sz="1200" dirty="0"/>
          </a:p>
        </p:txBody>
      </p:sp>
      <p:sp>
        <p:nvSpPr>
          <p:cNvPr id="8" name="opcion2"/>
          <p:cNvSpPr/>
          <p:nvPr/>
        </p:nvSpPr>
        <p:spPr>
          <a:xfrm>
            <a:off x="822960" y="3383280"/>
            <a:ext cx="457200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493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Constructora Pacífico S.A.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Grupo Pacífico · Aprobador monetario</a:t>
            </a:r>
            <a:endParaRPr lang="en-US" sz="1200" dirty="0"/>
          </a:p>
        </p:txBody>
      </p:sp>
      <p:sp>
        <p:nvSpPr>
          <p:cNvPr id="11" name="opcion3"/>
          <p:cNvSpPr/>
          <p:nvPr/>
        </p:nvSpPr>
        <p:spPr>
          <a:xfrm>
            <a:off x="822960" y="4434840"/>
            <a:ext cx="457200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51560" y="4544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Inmobiliaria Pacífico S.A.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Invitación pendiente de aceptar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58191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solo inicio de sesión: el token lleva el identity_id de Ana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5877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BackOffice traduce el identity_id a id_persona y busca sus relaciones activas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611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5935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Ana elige la empresa; esa elección define el contexto de operación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220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59943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cada operación se valida que la relación siga activa y tenga el permiso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Lo que el modelo no permite</a:t>
            </a:r>
            <a:endParaRPr lang="en-US" sz="3400" dirty="0"/>
          </a:p>
        </p:txBody>
      </p:sp>
      <p:sp>
        <p:nvSpPr>
          <p:cNvPr id="3" name="regla1"/>
          <p:cNvSpPr/>
          <p:nvPr/>
        </p:nvSpPr>
        <p:spPr>
          <a:xfrm>
            <a:off x="548640" y="1554480"/>
            <a:ext cx="3520440" cy="3657600"/>
          </a:xfrm>
          <a:prstGeom prst="roundRect">
            <a:avLst>
              <a:gd name="adj" fmla="val 2078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Rol de otro grupo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Asignarle a Ana el rol de Grupo Istmo en una empresa de Grupo Pacífico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Lo impide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compuesta rol–grupo</a:t>
            </a:r>
            <a:endParaRPr lang="en-US" sz="1400" dirty="0"/>
          </a:p>
        </p:txBody>
      </p:sp>
      <p:sp>
        <p:nvSpPr>
          <p:cNvPr id="8" name="regla2"/>
          <p:cNvSpPr/>
          <p:nvPr/>
        </p:nvSpPr>
        <p:spPr>
          <a:xfrm>
            <a:off x="4343400" y="1554480"/>
            <a:ext cx="3520440" cy="3657600"/>
          </a:xfrm>
          <a:prstGeom prst="roundRect">
            <a:avLst>
              <a:gd name="adj" fmla="val 2078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Relación duplicada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77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segunda relación de Ana con la misma empresa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977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Lo impide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251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(id_persona, empresa)</a:t>
            </a:r>
            <a:endParaRPr lang="en-US" sz="1400" dirty="0"/>
          </a:p>
        </p:txBody>
      </p:sp>
      <p:sp>
        <p:nvSpPr>
          <p:cNvPr id="13" name="regla3"/>
          <p:cNvSpPr/>
          <p:nvPr/>
        </p:nvSpPr>
        <p:spPr>
          <a:xfrm>
            <a:off x="8138160" y="1554480"/>
            <a:ext cx="3520440" cy="3657600"/>
          </a:xfrm>
          <a:prstGeom prst="roundRect">
            <a:avLst>
              <a:gd name="adj" fmla="val 2078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Afiliación sin identidad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377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Marcar una invitación como COMPLETADA sin id_persona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977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Lo impide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251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en afiliacion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Estas reglas las aplica la base de datos, no solo la aplicación: un error de código no puede saltárselas.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Pendientes por confirmar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00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Tema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Con quién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Tamaño real del _id de ForgeRock (UUID o más largo)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Administrador de ForgeRock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Que el contrato Vincular persona informe que el correo de la invitación se verificó con OTP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Equipo del journey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Registrar los correos de negocio por relación como excepción en el documento de arquitectura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Arquitectura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¿El Release 1 acepta solo cédula o también pasaporte?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Negocio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Máximo de administradores en un grupo Dual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Negocio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iliacion multiple">
  <a:themeElements>
    <a:clrScheme name="Afiliacion multiple">
      <a:dk1>
        <a:srgbClr val="1B2433"/>
      </a:dk1>
      <a:lt1>
        <a:srgbClr val="FFFFFF"/>
      </a:lt1>
      <a:dk2>
        <a:srgbClr val="132B63"/>
      </a:dk2>
      <a:lt2>
        <a:srgbClr val="EEF2F8"/>
      </a:lt2>
      <a:accent1>
        <a:srgbClr val="1F4FC1"/>
      </a:accent1>
      <a:accent2>
        <a:srgbClr val="0F8A5F"/>
      </a:accent2>
      <a:accent3>
        <a:srgbClr val="B7740A"/>
      </a:accent3>
      <a:accent4>
        <a:srgbClr val="6B7A90"/>
      </a:accent4>
      <a:accent5>
        <a:srgbClr val="7A3F8F"/>
      </a:accent5>
      <a:accent6>
        <a:srgbClr val="B33A3A"/>
      </a:accent6>
      <a:hlink>
        <a:srgbClr val="1F4FC1"/>
      </a:hlink>
      <a:folHlink>
        <a:srgbClr val="6B7A90"/>
      </a:folHlink>
    </a:clrScheme>
    <a:fontScheme name="Afiliacion multip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Afiliación múltiple BEL Comercial</dc:title>
  <dc:subject>PptxGenJS Presentation</dc:subject>
  <dc:creator>Ximena Williams</dc:creator>
  <cp:lastModifiedBy>Ximena Williams</cp:lastModifiedBy>
  <cp:revision>1</cp:revision>
  <dcterms:created xsi:type="dcterms:W3CDTF">2026-10-26T00:02:03Z</dcterms:created>
  <dcterms:modified xsi:type="dcterms:W3CDTF">2026-10-26T00:02:03Z</dcterms:modified>
</cp:coreProperties>
</file>
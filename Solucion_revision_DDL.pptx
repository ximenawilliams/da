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9345b1b4-ff63-e9df-7d32-ab7a93c6429a}">
          <p14:sldIdLst>
            <p14:sldId id="256"/>
            <p14:sldId id="257"/>
          </p14:sldIdLst>
        </p14:section>
        <p14:section name="La solución" id="{7545dc51-1a8b-a0c5-4729-0f4e2e776087}">
          <p14:sldIdLst>
            <p14:sldId id="258"/>
            <p14:sldId id="259"/>
            <p14:sldId id="260"/>
            <p14:sldId id="261"/>
            <p14:sldId id="262"/>
          </p14:sldIdLst>
        </p14:section>
        <p14:section name="Pendientes" id="{8573d4a6-bca5-6401-533a-9b1e5fd81b70}">
          <p14:sldIdLst>
            <p14:sldId id="263"/>
            <p14:sldId id="264"/>
          </p14:sldIdLst>
        </p14:section>
        <p14:section name="Cierre" id="{d5b024a5-fab9-aa8c-bb64-93d4c2915877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10 minutos: qué se resolvió de cada punto, cómo se ve en el modelo y qué queda pendiente y con quién.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Verde: cerrado. Ámbar: resuelto en el diseño, pero con una confirmación pendiente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Analogía: el reglamento dice quién firma los cheques; el expediente es el cheque de hoy con las firmas que ya tiene.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ejemplo del Paso 4 del documento de la PO, cargado en nuestras tablas.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versión es por fila, no por grupo económico: solicitudes sobre registros distintos nunca chocan.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etiquetas de la izquierda dicen de dónde sale cada lista: técnico, documento de arquitectura del journey o supuesto a validar con la 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identidad vive en ForgeRock; las relaciones con cada empresa, en BackOffice. El detalle está en la presentación de afiliación múltiple.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Llevarlas como preguntas cerradas con una propuesta por defecto: la PO solo confirma o corrige.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decisión en la sesión y dejar en acta responsable y fecha de cada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Solución revisión DDL · BEL Comercial Release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Revisión del DDL: la solución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Respuesta a los tres puntos de Domingo Camargo y Alfredo Pinzón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BEL Comercial · Release 1 · Aurora MySQL · Ximena Williams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Los tres puntos, resueltos en el DDL</a:t>
            </a:r>
            <a:endParaRPr lang="en-US" sz="3400" dirty="0"/>
          </a:p>
        </p:txBody>
      </p:sp>
      <p:sp>
        <p:nvSpPr>
          <p:cNvPr id="3" name="punto1"/>
          <p:cNvSpPr/>
          <p:nvPr/>
        </p:nvSpPr>
        <p:spPr>
          <a:xfrm>
            <a:off x="548640" y="1417320"/>
            <a:ext cx="3520440" cy="39776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Instancia de aprobación transaccional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Dos tablas nuevas guardan cada transacción en espera y sus decisiones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2971800" cy="329184"/>
          </a:xfrm>
          <a:prstGeom prst="roundRect">
            <a:avLst>
              <a:gd name="adj" fmla="val 22222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7548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Resuelto · falta confirmar si entra en R1</a:t>
            </a:r>
            <a:endParaRPr lang="en-US" sz="1100" dirty="0"/>
          </a:p>
        </p:txBody>
      </p:sp>
      <p:sp>
        <p:nvSpPr>
          <p:cNvPr id="9" name="punto2"/>
          <p:cNvSpPr/>
          <p:nvPr/>
        </p:nvSpPr>
        <p:spPr>
          <a:xfrm>
            <a:off x="4343400" y="1417320"/>
            <a:ext cx="3520440" cy="39776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5544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5146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Columna de versión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2918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tabla destino tiene Version; si dos cambios chocan, el segundo falla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17720" y="4754880"/>
            <a:ext cx="2971800" cy="329184"/>
          </a:xfrm>
          <a:prstGeom prst="roundRect">
            <a:avLst>
              <a:gd name="adj" fmla="val 22222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47548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Resuelto</a:t>
            </a:r>
            <a:endParaRPr lang="en-US" sz="1100" dirty="0"/>
          </a:p>
        </p:txBody>
      </p:sp>
      <p:sp>
        <p:nvSpPr>
          <p:cNvPr id="15" name="punto3"/>
          <p:cNvSpPr/>
          <p:nvPr/>
        </p:nvSpPr>
        <p:spPr>
          <a:xfrm>
            <a:off x="8138160" y="1417320"/>
            <a:ext cx="3520440" cy="39776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155448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5146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Estados con CHECK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918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base solo acepta estados válidos; se normalizan los datos a mayúsculas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412480" y="4754880"/>
            <a:ext cx="2971800" cy="329184"/>
          </a:xfrm>
          <a:prstGeom prst="roundRect">
            <a:avLst>
              <a:gd name="adj" fmla="val 22222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47548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Resuelto · algunos estados son supuestos</a:t>
            </a:r>
            <a:endParaRPr lang="en-US" sz="1100" dirty="0"/>
          </a:p>
        </p:txBody>
      </p:sp>
      <p:sp>
        <p:nvSpPr>
          <p:cNvPr id="21" name="ademas"/>
          <p:cNvSpPr/>
          <p:nvPr/>
        </p:nvSpPr>
        <p:spPr>
          <a:xfrm>
            <a:off x="548640" y="557784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Además ajustamos el modelo para la afiliación múltiple: una persona en varios grupos económicos.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1. Faltaba el expediente de cada transacción</a:t>
            </a:r>
            <a:endParaRPr lang="en-US" sz="3400" dirty="0"/>
          </a:p>
        </p:txBody>
      </p:sp>
      <p:sp>
        <p:nvSpPr>
          <p:cNvPr id="3" name="reglamento"/>
          <p:cNvSpPr/>
          <p:nvPr/>
        </p:nvSpPr>
        <p:spPr>
          <a:xfrm>
            <a:off x="548640" y="1417320"/>
            <a:ext cx="493776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El reglamento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Ya existía · se configura una vez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4389120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146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Flujo_aprobacion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4389120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0632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Flujo_aprobacion_regla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4389120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6118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Flujo_aprobacion_nivel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4389120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60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Flujo_aprobacion_aprobador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709160"/>
            <a:ext cx="4389120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091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Flujo_aprobacion_producto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3429000"/>
            <a:ext cx="5943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expediente"/>
          <p:cNvSpPr/>
          <p:nvPr/>
        </p:nvSpPr>
        <p:spPr>
          <a:xfrm>
            <a:off x="6263640" y="1417320"/>
            <a:ext cx="5349240" cy="4023360"/>
          </a:xfrm>
          <a:prstGeom prst="roundRect">
            <a:avLst>
              <a:gd name="adj" fmla="val 1818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El expediente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Nuevo · una fila por cada transacción real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2514600"/>
            <a:ext cx="4800600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251460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Transaccion_aprobacion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926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Monto, cuenta, estado, nivel actual, vencimiento y versión del flujo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3520440"/>
            <a:ext cx="4800600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352044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Transaccion_aprobacion_decision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931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Una fila por aprobador; nadie aprueba dos veces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4526280"/>
            <a:ext cx="4800600" cy="329184"/>
          </a:xfrm>
          <a:prstGeom prst="roundRect">
            <a:avLst>
              <a:gd name="adj" fmla="val 22222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452628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BITACORA_EVENTO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937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id_aprobacion se separa en administrativa y transaccional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Si negocio confirma que las transacciones no entran en el R1, estas tablas quedan diseñadas y se crean en el release que las incluya.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Ejemplo: Petra transfiere USD 8,000</a:t>
            </a:r>
            <a:endParaRPr lang="en-US" sz="3400" dirty="0"/>
          </a:p>
        </p:txBody>
      </p:sp>
      <p:sp>
        <p:nvSpPr>
          <p:cNvPr id="3" name="f0"/>
          <p:cNvSpPr/>
          <p:nvPr/>
        </p:nvSpPr>
        <p:spPr>
          <a:xfrm>
            <a:off x="548640" y="1463040"/>
            <a:ext cx="1965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Petra crea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Creadora monetaria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32888" y="2075688"/>
            <a:ext cx="256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f1"/>
          <p:cNvSpPr/>
          <p:nvPr/>
        </p:nvSpPr>
        <p:spPr>
          <a:xfrm>
            <a:off x="2807208" y="1463040"/>
            <a:ext cx="1965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98648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Regla 31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898648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5,000 a 20,000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91456" y="2075688"/>
            <a:ext cx="256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f2"/>
          <p:cNvSpPr/>
          <p:nvPr/>
        </p:nvSpPr>
        <p:spPr>
          <a:xfrm>
            <a:off x="5065776" y="1463040"/>
            <a:ext cx="1965960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Nivel 1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Pedro o Luis · 1 de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50024" y="2075688"/>
            <a:ext cx="256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f3"/>
          <p:cNvSpPr/>
          <p:nvPr/>
        </p:nvSpPr>
        <p:spPr>
          <a:xfrm>
            <a:off x="7324344" y="1463040"/>
            <a:ext cx="1965960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15784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Nivel 2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415784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Sandra · 1 de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08592" y="2075688"/>
            <a:ext cx="2560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f4"/>
          <p:cNvSpPr/>
          <p:nvPr/>
        </p:nvSpPr>
        <p:spPr>
          <a:xfrm>
            <a:off x="9582912" y="1463040"/>
            <a:ext cx="1965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Core ejecuta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674352" y="21031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Sale el dinero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Así cambia su fila en Transaccion_aprobacion</a:t>
            </a:r>
            <a:endParaRPr lang="en-US" sz="1700" dirty="0"/>
          </a:p>
        </p:txBody>
      </p:sp>
      <p:sp>
        <p:nvSpPr>
          <p:cNvPr id="23" name="st0"/>
          <p:cNvSpPr/>
          <p:nvPr/>
        </p:nvSpPr>
        <p:spPr>
          <a:xfrm>
            <a:off x="548640" y="361188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PENDIENTE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nivel 1 · v1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35808" y="4087368"/>
            <a:ext cx="32918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st1"/>
          <p:cNvSpPr/>
          <p:nvPr/>
        </p:nvSpPr>
        <p:spPr>
          <a:xfrm>
            <a:off x="3383280" y="361188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8328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EN_APROBACION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38328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nivel 2 · v2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70448" y="4087368"/>
            <a:ext cx="32918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1" name="st2"/>
          <p:cNvSpPr/>
          <p:nvPr/>
        </p:nvSpPr>
        <p:spPr>
          <a:xfrm>
            <a:off x="6217920" y="361188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APROBADA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sin nivel · v3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705088" y="4087368"/>
            <a:ext cx="329184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5" name="st3"/>
          <p:cNvSpPr/>
          <p:nvPr/>
        </p:nvSpPr>
        <p:spPr>
          <a:xfrm>
            <a:off x="9052560" y="361188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5256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EJECUTADA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ref. core · v4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983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 en Transaccion_aprobacion_decision quedan dos filas: Pedro aprobó el nivel 1 y Sandra el nivel 2. Si nadie aprueba a tiempo, pasa a EXPIRADA.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2. Cada registro lleva su versión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Dos solicitudes leen el mismo rol (role 20, versión 3)</a:t>
            </a:r>
            <a:endParaRPr lang="en-US" sz="1600" dirty="0"/>
          </a:p>
        </p:txBody>
      </p:sp>
      <p:sp>
        <p:nvSpPr>
          <p:cNvPr id="4" name="sol0"/>
          <p:cNvSpPr/>
          <p:nvPr/>
        </p:nvSpPr>
        <p:spPr>
          <a:xfrm>
            <a:off x="548640" y="1828800"/>
            <a:ext cx="3017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Solicitud A · leyó v3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11880" y="219456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upd0"/>
          <p:cNvSpPr/>
          <p:nvPr/>
        </p:nvSpPr>
        <p:spPr>
          <a:xfrm>
            <a:off x="4114800" y="182880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aplica primero: WHERE Version = 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01000" y="219456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0" name="res0"/>
          <p:cNvSpPr/>
          <p:nvPr/>
        </p:nvSpPr>
        <p:spPr>
          <a:xfrm>
            <a:off x="8503920" y="182880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1828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Aplicada · el rol queda en v4</a:t>
            </a:r>
            <a:endParaRPr lang="en-US" sz="1400" dirty="0"/>
          </a:p>
        </p:txBody>
      </p:sp>
      <p:sp>
        <p:nvSpPr>
          <p:cNvPr id="12" name="sol1"/>
          <p:cNvSpPr/>
          <p:nvPr/>
        </p:nvSpPr>
        <p:spPr>
          <a:xfrm>
            <a:off x="548640" y="2788920"/>
            <a:ext cx="301752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788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Solicitud B · leyó v3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11880" y="315468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upd1"/>
          <p:cNvSpPr/>
          <p:nvPr/>
        </p:nvSpPr>
        <p:spPr>
          <a:xfrm>
            <a:off x="4114800" y="2788920"/>
            <a:ext cx="38404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2788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Llega después: WHERE Version = 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01000" y="315468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res1"/>
          <p:cNvSpPr/>
          <p:nvPr/>
        </p:nvSpPr>
        <p:spPr>
          <a:xfrm>
            <a:off x="8503920" y="278892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41080" y="2788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0 filas · pasa a FALLIDA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Regla del padre: un cambio en el detalle sube la versión del registro principal</a:t>
            </a:r>
            <a:endParaRPr lang="en-US" sz="1600" dirty="0"/>
          </a:p>
        </p:txBody>
      </p:sp>
      <p:sp>
        <p:nvSpPr>
          <p:cNvPr id="21" name="padre0"/>
          <p:cNvSpPr/>
          <p:nvPr/>
        </p:nvSpPr>
        <p:spPr>
          <a:xfrm>
            <a:off x="548640" y="4480560"/>
            <a:ext cx="35204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617720"/>
            <a:ext cx="3063240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6177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Grupo_producto · Version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5166360"/>
            <a:ext cx="3063240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1663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Grupo_producto_detalle</a:t>
            </a:r>
            <a:endParaRPr lang="en-US" sz="1000" dirty="0"/>
          </a:p>
        </p:txBody>
      </p:sp>
      <p:sp>
        <p:nvSpPr>
          <p:cNvPr id="26" name="padre1"/>
          <p:cNvSpPr/>
          <p:nvPr/>
        </p:nvSpPr>
        <p:spPr>
          <a:xfrm>
            <a:off x="4343400" y="4480560"/>
            <a:ext cx="35204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4617720"/>
            <a:ext cx="3063240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0" y="46177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· Version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166360"/>
            <a:ext cx="1481328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51663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Rol_permiso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5166360"/>
            <a:ext cx="1481328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26480" y="51663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Rol_grupo_producto</a:t>
            </a:r>
            <a:endParaRPr lang="en-US" sz="1000" dirty="0"/>
          </a:p>
        </p:txBody>
      </p:sp>
      <p:sp>
        <p:nvSpPr>
          <p:cNvPr id="33" name="padre2"/>
          <p:cNvSpPr/>
          <p:nvPr/>
        </p:nvSpPr>
        <p:spPr>
          <a:xfrm>
            <a:off x="8138160" y="4480560"/>
            <a:ext cx="35204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66760" y="4617720"/>
            <a:ext cx="3063240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66760" y="46177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Flujo_aprobacion · Version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66760" y="5166360"/>
            <a:ext cx="960120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66760" y="516636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_regla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400032" y="5166360"/>
            <a:ext cx="960120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400032" y="516636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_nivel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433304" y="5166360"/>
            <a:ext cx="960120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433304" y="516636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_aprobador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3. Estados que la base acepta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Aprobacion_administrativa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817474" cy="329184"/>
          </a:xfrm>
          <a:prstGeom prst="roundRect">
            <a:avLst>
              <a:gd name="adj" fmla="val 22222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09928"/>
            <a:ext cx="8174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Técnico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749040" y="1325880"/>
            <a:ext cx="1034918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49040" y="1325880"/>
            <a:ext cx="10349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PENDIENTE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2246" y="13258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76566" y="1325880"/>
            <a:ext cx="952439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6566" y="1325880"/>
            <a:ext cx="952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APROBADA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047293" y="13258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21613" y="1325880"/>
            <a:ext cx="952439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1613" y="1325880"/>
            <a:ext cx="952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APLICADA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17099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 termina 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709928"/>
            <a:ext cx="1034918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709928"/>
            <a:ext cx="10349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RECHAZADA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26958" y="1709928"/>
            <a:ext cx="952439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26958" y="1709928"/>
            <a:ext cx="952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EXPIRADA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70837" y="1709928"/>
            <a:ext cx="1034918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70837" y="1709928"/>
            <a:ext cx="10349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7195" y="1709928"/>
            <a:ext cx="869960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7195" y="1709928"/>
            <a:ext cx="86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FALLIDA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176272"/>
            <a:ext cx="11064240" cy="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2768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afiliacion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2660904"/>
            <a:ext cx="1567282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660904"/>
            <a:ext cx="1567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Doc. arquitectura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2276856"/>
            <a:ext cx="1034918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49040" y="2276856"/>
            <a:ext cx="10349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PENDIENTE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02246" y="22768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76566" y="2276856"/>
            <a:ext cx="1117397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76566" y="2276856"/>
            <a:ext cx="11173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COMPLETADA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749040" y="266090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 termina en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2660904"/>
            <a:ext cx="1117397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00600" y="2660904"/>
            <a:ext cx="11173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INCOMPLETA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09437" y="2660904"/>
            <a:ext cx="952439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09437" y="2660904"/>
            <a:ext cx="952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EXPIRADA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53316" y="2660904"/>
            <a:ext cx="952439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53316" y="2660904"/>
            <a:ext cx="952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REVOCADA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127248"/>
            <a:ext cx="11064240" cy="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32278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Producto_vinculacion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3611880"/>
            <a:ext cx="1792224" cy="329184"/>
          </a:xfrm>
          <a:prstGeom prst="roundRect">
            <a:avLst>
              <a:gd name="adj" fmla="val 22222"/>
            </a:avLst>
          </a:prstGeom>
          <a:solidFill>
            <a:schemeClr val="accent5">
              <a:alpha val="15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361188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Supuesto · valida PO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49040" y="3227832"/>
            <a:ext cx="1034918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749040" y="3227832"/>
            <a:ext cx="10349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PENDIENTE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802246" y="32278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76566" y="3227832"/>
            <a:ext cx="787481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76566" y="3227832"/>
            <a:ext cx="7874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882335" y="32278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⇄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156655" y="3227832"/>
            <a:ext cx="1117397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156655" y="3227832"/>
            <a:ext cx="11173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SUSPENDIDO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3749040" y="36118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 termina en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00600" y="3611880"/>
            <a:ext cx="1282355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800600" y="3611880"/>
            <a:ext cx="12823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DESVINCULADO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4078224"/>
            <a:ext cx="11064240" cy="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8640" y="41788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Transaccion_aprobacion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48640" y="4562856"/>
            <a:ext cx="1792224" cy="329184"/>
          </a:xfrm>
          <a:prstGeom prst="roundRect">
            <a:avLst>
              <a:gd name="adj" fmla="val 22222"/>
            </a:avLst>
          </a:prstGeom>
          <a:solidFill>
            <a:schemeClr val="accent5">
              <a:alpha val="1500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48640" y="4562856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Supuesto · valida PO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0" y="4178808"/>
            <a:ext cx="1034918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749040" y="4178808"/>
            <a:ext cx="10349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PENDIENTE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802246" y="41788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→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076566" y="4178808"/>
            <a:ext cx="1364833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076566" y="4178808"/>
            <a:ext cx="13648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EN_APROBACION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6459687" y="41788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→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734007" y="4178808"/>
            <a:ext cx="952439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734007" y="4178808"/>
            <a:ext cx="952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APROBADA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7704734" y="41788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→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979054" y="4178808"/>
            <a:ext cx="1034918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979054" y="4178808"/>
            <a:ext cx="10349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EJECUTADA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3749040" y="456285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 termina en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800600" y="4562856"/>
            <a:ext cx="1034918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800600" y="4562856"/>
            <a:ext cx="10349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RECHAZADA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926958" y="4562856"/>
            <a:ext cx="952439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926958" y="4562856"/>
            <a:ext cx="952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EXPIRADA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970837" y="4562856"/>
            <a:ext cx="1034918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970837" y="4562856"/>
            <a:ext cx="10349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CANCELADA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8097195" y="4562856"/>
            <a:ext cx="869960" cy="329184"/>
          </a:xfrm>
          <a:prstGeom prst="roundRect">
            <a:avLst>
              <a:gd name="adj" fmla="val 22222"/>
            </a:avLst>
          </a:prstGeom>
          <a:solidFill>
            <a:schemeClr val="accent4">
              <a:alpha val="15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097195" y="4562856"/>
            <a:ext cx="86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FALLIDA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48640" y="5029200"/>
            <a:ext cx="11064240" cy="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48640" y="51297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Catálogos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548640" y="5513832"/>
            <a:ext cx="817474" cy="329184"/>
          </a:xfrm>
          <a:prstGeom prst="roundRect">
            <a:avLst>
              <a:gd name="adj" fmla="val 22222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48640" y="5513832"/>
            <a:ext cx="8174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Técnico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749040" y="5129784"/>
            <a:ext cx="787481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749040" y="5129784"/>
            <a:ext cx="7874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4554809" y="51297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⇄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829129" y="5129784"/>
            <a:ext cx="952439" cy="329184"/>
          </a:xfrm>
          <a:prstGeom prst="roundRect">
            <a:avLst>
              <a:gd name="adj" fmla="val 22222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4829129" y="5129784"/>
            <a:ext cx="952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INACTIVO</a:t>
            </a:r>
            <a:endParaRPr lang="en-US" sz="1100" dirty="0"/>
          </a:p>
        </p:txBody>
      </p:sp>
      <p:sp>
        <p:nvSpPr>
          <p:cNvPr id="87" name="Text 85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Estado_core no lleva CHECK: refleja los valores del core. La columna se llama siempre Estado.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Además: una persona, varios grupos</a:t>
            </a:r>
            <a:endParaRPr lang="en-US" sz="3400" dirty="0"/>
          </a:p>
        </p:txBody>
      </p:sp>
      <p:sp>
        <p:nvSpPr>
          <p:cNvPr id="3" name="fr"/>
          <p:cNvSpPr/>
          <p:nvPr/>
        </p:nvSpPr>
        <p:spPr>
          <a:xfrm>
            <a:off x="548640" y="1463040"/>
            <a:ext cx="228600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ForgeRock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 identidad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880360" y="205740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6" name="bpc"/>
          <p:cNvSpPr/>
          <p:nvPr/>
        </p:nvSpPr>
        <p:spPr>
          <a:xfrm>
            <a:off x="3383280" y="1463040"/>
            <a:ext cx="24688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63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belc_persona_canal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id_persona 1001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2670048"/>
            <a:ext cx="0" cy="39319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463040" y="3063240"/>
            <a:ext cx="4389120" cy="329184"/>
          </a:xfrm>
          <a:prstGeom prst="roundRect">
            <a:avLst>
              <a:gd name="adj" fmla="val 22222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30632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Istmo · Distribuidora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63040" y="3749040"/>
            <a:ext cx="4389120" cy="329184"/>
          </a:xfrm>
          <a:prstGeom prst="roundRect">
            <a:avLst>
              <a:gd name="adj" fmla="val 22222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37490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Pacífico · Constructora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63040" y="4434840"/>
            <a:ext cx="4389120" cy="329184"/>
          </a:xfrm>
          <a:prstGeom prst="roundRect">
            <a:avLst>
              <a:gd name="adj" fmla="val 22222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63040" y="44348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Pacífico · Inmobiliaria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Una fila por relación en Usuario_grupo_economico · UNIQUE (id_persona, empresa)</a:t>
            </a:r>
            <a:endParaRPr lang="en-US" sz="1300" dirty="0"/>
          </a:p>
        </p:txBody>
      </p:sp>
      <p:sp>
        <p:nvSpPr>
          <p:cNvPr id="16" name="av0"/>
          <p:cNvSpPr/>
          <p:nvPr/>
        </p:nvSpPr>
        <p:spPr>
          <a:xfrm>
            <a:off x="6400800" y="1463040"/>
            <a:ext cx="5212080" cy="1874520"/>
          </a:xfrm>
          <a:prstGeom prst="roundRect">
            <a:avLst>
              <a:gd name="adj" fmla="val 3902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1645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Avisos de seguridad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OTP, recuperación, bloqueo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2560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Llegan a: Correo de ForgeRock</a:t>
            </a:r>
            <a:endParaRPr lang="en-US" sz="1400" dirty="0"/>
          </a:p>
        </p:txBody>
      </p:sp>
      <p:sp>
        <p:nvSpPr>
          <p:cNvPr id="20" name="av1"/>
          <p:cNvSpPr/>
          <p:nvPr/>
        </p:nvSpPr>
        <p:spPr>
          <a:xfrm>
            <a:off x="6400800" y="3611880"/>
            <a:ext cx="5212080" cy="1874520"/>
          </a:xfrm>
          <a:prstGeom prst="roundRect">
            <a:avLst>
              <a:gd name="adj" fmla="val 3902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3794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Avisos de negocio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251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Aprobaciones, transferencias, rechazos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4709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Llegan a: Correo de la relación (Contacto_notificacion)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Pendientes de negocio (PO)</a:t>
            </a:r>
            <a:endParaRPr lang="en-US" sz="3400" dirty="0"/>
          </a:p>
        </p:txBody>
      </p:sp>
      <p:sp>
        <p:nvSpPr>
          <p:cNvPr id="3" name="po0"/>
          <p:cNvSpPr/>
          <p:nvPr/>
        </p:nvSpPr>
        <p:spPr>
          <a:xfrm>
            <a:off x="54864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1267358" cy="329184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2673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Alcance R1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¿Las transacciones monetarias entran en el Release 1?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¿Frecuentes, lotes, recurrencias y canje de puntos son del R1?</a:t>
            </a:r>
            <a:endParaRPr lang="en-US" sz="1500" dirty="0"/>
          </a:p>
        </p:txBody>
      </p:sp>
      <p:sp>
        <p:nvSpPr>
          <p:cNvPr id="7" name="po1"/>
          <p:cNvSpPr/>
          <p:nvPr/>
        </p:nvSpPr>
        <p:spPr>
          <a:xfrm>
            <a:off x="626364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2242109" cy="329184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645920"/>
            <a:ext cx="22421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Reglas de aprobación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48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 un aprobador rechaza, ¿se cancela toda la transacción?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¿Los niveles se aprueban en orden?</a:t>
            </a:r>
            <a:endParaRPr lang="en-US" sz="1500" dirty="0"/>
          </a:p>
        </p:txBody>
      </p:sp>
      <p:sp>
        <p:nvSpPr>
          <p:cNvPr id="11" name="po2"/>
          <p:cNvSpPr/>
          <p:nvPr/>
        </p:nvSpPr>
        <p:spPr>
          <a:xfrm>
            <a:off x="548640" y="3794760"/>
            <a:ext cx="53492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023360"/>
            <a:ext cx="1949684" cy="329184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23360"/>
            <a:ext cx="19496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Estados y tiempos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26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¿Una cuenta vinculada se puede suspender o solo desvincular?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Confirmar vencimientos: 72 h invitaciones, 48 h aprobaciones (parametrizables)</a:t>
            </a:r>
            <a:endParaRPr lang="en-US" sz="1500" dirty="0"/>
          </a:p>
        </p:txBody>
      </p:sp>
      <p:sp>
        <p:nvSpPr>
          <p:cNvPr id="15" name="po3"/>
          <p:cNvSpPr/>
          <p:nvPr/>
        </p:nvSpPr>
        <p:spPr>
          <a:xfrm>
            <a:off x="6263640" y="3794760"/>
            <a:ext cx="53492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4023360"/>
            <a:ext cx="2144634" cy="329184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4023360"/>
            <a:ext cx="21446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Datos de la persona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526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¿El R1 acepta solo cédula o también pasaporte?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¿Cuántos administradores tiene un grupo Dual?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Pendientes técnicos y responsables</a:t>
            </a:r>
            <a:endParaRPr lang="en-US" sz="3400" dirty="0"/>
          </a:p>
        </p:txBody>
      </p:sp>
      <p:sp>
        <p:nvSpPr>
          <p:cNvPr id="3" name="tec0"/>
          <p:cNvSpPr/>
          <p:nvPr/>
        </p:nvSpPr>
        <p:spPr>
          <a:xfrm>
            <a:off x="54864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2437059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24370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Domingo · Arquitectura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Aprobar que la instancia transaccional viva en este esquema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Documentar id_persona y los correos por relación como decisiones</a:t>
            </a:r>
            <a:endParaRPr lang="en-US" sz="1500" dirty="0"/>
          </a:p>
        </p:txBody>
      </p:sp>
      <p:sp>
        <p:nvSpPr>
          <p:cNvPr id="7" name="tec1"/>
          <p:cNvSpPr/>
          <p:nvPr/>
        </p:nvSpPr>
        <p:spPr>
          <a:xfrm>
            <a:off x="626364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1852209" cy="329184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645920"/>
            <a:ext cx="18522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Equipo ForgeRock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48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Tamaño real del _id de la identidad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¿La normalización del documento (nodo 040) necesita el tipo?</a:t>
            </a:r>
            <a:endParaRPr lang="en-US" sz="1500" dirty="0"/>
          </a:p>
        </p:txBody>
      </p:sp>
      <p:sp>
        <p:nvSpPr>
          <p:cNvPr id="11" name="tec2"/>
          <p:cNvSpPr/>
          <p:nvPr/>
        </p:nvSpPr>
        <p:spPr>
          <a:xfrm>
            <a:off x="548640" y="3794760"/>
            <a:ext cx="53492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023360"/>
            <a:ext cx="2047159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23360"/>
            <a:ext cx="20471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Equipo del journey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26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Vincular persona: informar el correo verificado por OTP y su fecha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Enlace de invitación con enrollment_id + token secreto</a:t>
            </a:r>
            <a:endParaRPr lang="en-US" sz="1500" dirty="0"/>
          </a:p>
        </p:txBody>
      </p:sp>
      <p:sp>
        <p:nvSpPr>
          <p:cNvPr id="15" name="tec3"/>
          <p:cNvSpPr/>
          <p:nvPr/>
        </p:nvSpPr>
        <p:spPr>
          <a:xfrm>
            <a:off x="6263640" y="3794760"/>
            <a:ext cx="53492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4023360"/>
            <a:ext cx="1754734" cy="329184"/>
          </a:xfrm>
          <a:prstGeom prst="roundRect">
            <a:avLst>
              <a:gd name="adj" fmla="val 22222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4023360"/>
            <a:ext cx="17547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DBA y Seguridad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526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Confirmar versión: SELECT VERSION(), @@aurora_version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Bitácora solo INSERT para la app; Activity Streams y S3 Object Lock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Lo que necesitamos decidir hoy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600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¿La instancia de aprobación transaccional vive en este esquema?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926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¿Las transacciones monetarias entran en el Release 1?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425196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2519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¿Aprobamos id_persona como llave interna y los correos de negocio por relación?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Con estas tres respuestas se cierra el DDL del Release 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ucion revision DDL">
  <a:themeElements>
    <a:clrScheme name="Solucion revision DDL">
      <a:dk1>
        <a:srgbClr val="1B2433"/>
      </a:dk1>
      <a:lt1>
        <a:srgbClr val="FFFFFF"/>
      </a:lt1>
      <a:dk2>
        <a:srgbClr val="132B63"/>
      </a:dk2>
      <a:lt2>
        <a:srgbClr val="EEF2F8"/>
      </a:lt2>
      <a:accent1>
        <a:srgbClr val="1F4FC1"/>
      </a:accent1>
      <a:accent2>
        <a:srgbClr val="0F8A5F"/>
      </a:accent2>
      <a:accent3>
        <a:srgbClr val="B7740A"/>
      </a:accent3>
      <a:accent4>
        <a:srgbClr val="6B7A90"/>
      </a:accent4>
      <a:accent5>
        <a:srgbClr val="7A3F8F"/>
      </a:accent5>
      <a:accent6>
        <a:srgbClr val="B33A3A"/>
      </a:accent6>
      <a:hlink>
        <a:srgbClr val="1F4FC1"/>
      </a:hlink>
      <a:folHlink>
        <a:srgbClr val="6B7A90"/>
      </a:folHlink>
    </a:clrScheme>
    <a:fontScheme name="Solucion revision DD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Solución revisión DDL BEL Comercial</dc:title>
  <dc:subject>PptxGenJS Presentation</dc:subject>
  <dc:creator>Ximena Williams</dc:creator>
  <cp:lastModifiedBy>Ximena Williams</cp:lastModifiedBy>
  <cp:revision>1</cp:revision>
  <dcterms:created xsi:type="dcterms:W3CDTF">2026-10-26T00:34:38Z</dcterms:created>
  <dcterms:modified xsi:type="dcterms:W3CDTF">2026-10-26T00:34:38Z</dcterms:modified>
</cp:coreProperties>
</file>